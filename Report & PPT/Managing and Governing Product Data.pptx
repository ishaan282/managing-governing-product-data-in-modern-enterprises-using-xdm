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57" r:id="rId6"/>
    <p:sldId id="269" r:id="rId7"/>
    <p:sldId id="270" r:id="rId8"/>
    <p:sldId id="271" r:id="rId9"/>
    <p:sldId id="272" r:id="rId10"/>
    <p:sldId id="273" r:id="rId11"/>
    <p:sldId id="274" r:id="rId12"/>
    <p:sldId id="275" r:id="rId13"/>
    <p:sldId id="276" r:id="rId14"/>
    <p:sldId id="277" r:id="rId15"/>
    <p:sldId id="278" r:id="rId16"/>
    <p:sldId id="268" r:id="rId1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5/18/2026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AU"/>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AU"/>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AU"/>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AU"/>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AU"/>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AU"/>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dirty="0">
                <a:latin typeface="Times New Roman" panose="02020603050405020304" pitchFamily="18" charset="0"/>
                <a:ea typeface="Calibri" panose="020F0502020204030204" pitchFamily="34" charset="0"/>
                <a:cs typeface="Times New Roman" panose="02020603050405020304" pitchFamily="18" charset="0"/>
              </a:rPr>
              <a:t>Product Data Management</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Aditya Sharma – 2210992588</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Ishaan Singla – 2210992582</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Shreyashi Singh – 2210992348</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Lakshmesh Sahu – 2210991844</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Harshit Sharma - 2210991640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Isha Kansal</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45354" y="1117869"/>
            <a:ext cx="8838720" cy="4838571"/>
          </a:xfrm>
          <a:prstGeom prst="rect">
            <a:avLst/>
          </a:prstGeom>
          <a:noFill/>
          <a:ln w="9360">
            <a:noFill/>
          </a:ln>
        </p:spPr>
        <p:txBody>
          <a:bodyPr>
            <a:noAutofit/>
          </a:bodyPr>
          <a:lstStyle/>
          <a:p>
            <a:pPr algn="just"/>
            <a:r>
              <a:rPr lang="en-AU" sz="2000" dirty="0">
                <a:latin typeface="Times New Roman" panose="02020603050405020304" pitchFamily="18" charset="0"/>
                <a:cs typeface="Times New Roman" panose="02020603050405020304" pitchFamily="18" charset="0"/>
              </a:rPr>
              <a:t>In modern enterprises, product information is managed across multiple departments, warehouses, and business applications such as ERP systems, inventory platforms, and supplier databases. Organizations often face problems like inconsistent product codes, duplicate records, and inaccurate product descriptions. These issues affect operational efficiency, reporting accuracy, and overall business performance.</a:t>
            </a:r>
          </a:p>
          <a:p>
            <a:pPr algn="just"/>
            <a:endParaRPr lang="en-AU" sz="2000" dirty="0">
              <a:latin typeface="Times New Roman" panose="02020603050405020304" pitchFamily="18" charset="0"/>
              <a:cs typeface="Times New Roman" panose="02020603050405020304" pitchFamily="18" charset="0"/>
            </a:endParaRPr>
          </a:p>
          <a:p>
            <a:pPr algn="just"/>
            <a:r>
              <a:rPr lang="en-AU" sz="2000" dirty="0">
                <a:latin typeface="Times New Roman" panose="02020603050405020304" pitchFamily="18" charset="0"/>
                <a:cs typeface="Times New Roman" panose="02020603050405020304" pitchFamily="18" charset="0"/>
              </a:rPr>
              <a:t>To overcome these challenges, enterprises are adopting Master Data Management (MDM) solutions that help create a centralized and trusted source of information. This project focuses on developing a Product Data Governance framework using Semarchy xDM.</a:t>
            </a:r>
          </a:p>
          <a:p>
            <a:pPr algn="just"/>
            <a:endParaRPr lang="en-AU" sz="2000" dirty="0">
              <a:latin typeface="Times New Roman" panose="02020603050405020304" pitchFamily="18" charset="0"/>
              <a:cs typeface="Times New Roman" panose="02020603050405020304" pitchFamily="18" charset="0"/>
            </a:endParaRPr>
          </a:p>
          <a:p>
            <a:pPr algn="just"/>
            <a:r>
              <a:rPr lang="en-AU" sz="2000" dirty="0">
                <a:latin typeface="Times New Roman" panose="02020603050405020304" pitchFamily="18" charset="0"/>
                <a:cs typeface="Times New Roman" panose="02020603050405020304" pitchFamily="18" charset="0"/>
              </a:rPr>
              <a:t>The proposed solution includes features such as data validation, duplicate detection, governance workflows, data standardization, and golden record creation. By implementing a centralized governance approach, the organization can improve data quality, simplify system integration, and support better decision-making across enterprise operations.</a:t>
            </a:r>
          </a:p>
          <a:p>
            <a:pPr algn="just"/>
            <a:endParaRPr lang="en-AU"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2FCE7-7563-6731-EEA0-0D57A88A6400}"/>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9C8C328-8E0C-E3B7-5005-276C7A6A3411}"/>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2801C6E-5669-2CD3-DCE1-8383FAEAFF5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971779C4-FBF9-4CA7-4166-015B4D58D016}"/>
              </a:ext>
            </a:extLst>
          </p:cNvPr>
          <p:cNvSpPr txBox="1"/>
          <p:nvPr/>
        </p:nvSpPr>
        <p:spPr>
          <a:xfrm>
            <a:off x="164008" y="1109742"/>
            <a:ext cx="8838720" cy="4838571"/>
          </a:xfrm>
          <a:prstGeom prst="rect">
            <a:avLst/>
          </a:prstGeom>
          <a:noFill/>
          <a:ln w="9360">
            <a:noFill/>
          </a:ln>
        </p:spPr>
        <p:txBody>
          <a:bodyPr>
            <a:noAutofit/>
          </a:bodyPr>
          <a:lstStyle/>
          <a:p>
            <a:pPr algn="just">
              <a:lnSpc>
                <a:spcPct val="100000"/>
              </a:lnSpc>
              <a:spcBef>
                <a:spcPts val="400"/>
              </a:spcBef>
            </a:pPr>
            <a:r>
              <a:rPr lang="en-AU" sz="2000" dirty="0">
                <a:latin typeface="Times New Roman" panose="02020603050405020304" pitchFamily="18" charset="0"/>
                <a:cs typeface="Times New Roman" panose="02020603050405020304" pitchFamily="18" charset="0"/>
              </a:rPr>
              <a:t>Modern enterprises face several challenges in managing product data across multiple systems and departments. These issues affect operational efficiency, data accuracy, and business decision-making.</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spcBef>
                <a:spcPts val="400"/>
              </a:spcBef>
            </a:pPr>
            <a:endParaRPr lang="en-US" sz="1900" spc="-1" dirty="0">
              <a:solidFill>
                <a:srgbClr val="000000"/>
              </a:solidFill>
              <a:latin typeface="Calibri"/>
            </a:endParaRPr>
          </a:p>
          <a:p>
            <a:pPr marL="342900" indent="-342900" algn="just">
              <a:lnSpc>
                <a:spcPct val="150000"/>
              </a:lnSpc>
              <a:spcBef>
                <a:spcPts val="400"/>
              </a:spcBef>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Inconsistent product codes and descriptions across different systems. </a:t>
            </a:r>
          </a:p>
          <a:p>
            <a:pPr marL="342900" indent="-342900" algn="just">
              <a:lnSpc>
                <a:spcPct val="150000"/>
              </a:lnSpc>
              <a:spcBef>
                <a:spcPts val="400"/>
              </a:spcBef>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Duplicate product records causing inventory and procurement issues.</a:t>
            </a:r>
          </a:p>
          <a:p>
            <a:pPr marL="342900" indent="-342900" algn="just">
              <a:lnSpc>
                <a:spcPct val="150000"/>
              </a:lnSpc>
              <a:spcBef>
                <a:spcPts val="400"/>
              </a:spcBef>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Lack of centralized data governance and ownership.</a:t>
            </a:r>
          </a:p>
          <a:p>
            <a:pPr marL="342900" indent="-342900" algn="just">
              <a:lnSpc>
                <a:spcPct val="150000"/>
              </a:lnSpc>
              <a:spcBef>
                <a:spcPts val="400"/>
              </a:spcBef>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Poor data quality and missing product information. </a:t>
            </a:r>
          </a:p>
          <a:p>
            <a:pPr marL="342900" indent="-342900" algn="just">
              <a:lnSpc>
                <a:spcPct val="150000"/>
              </a:lnSpc>
              <a:spcBef>
                <a:spcPts val="400"/>
              </a:spcBef>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Difficulty integrating with ERP systems and partner networks. </a:t>
            </a:r>
          </a:p>
          <a:p>
            <a:pPr marL="342900" indent="-342900" algn="just">
              <a:lnSpc>
                <a:spcPct val="150000"/>
              </a:lnSpc>
              <a:spcBef>
                <a:spcPts val="400"/>
              </a:spcBef>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Manual processes leading to compliance and reporting risks. </a:t>
            </a:r>
          </a:p>
          <a:p>
            <a:pPr marL="342900" indent="-342900" algn="just">
              <a:lnSpc>
                <a:spcPct val="150000"/>
              </a:lnSpc>
              <a:spcBef>
                <a:spcPts val="400"/>
              </a:spcBef>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Absence of a single trusted source of product data.</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976500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469E-7208-7573-D2B0-01EEC6D6A1A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61A8757-BDC1-BA48-555D-F3891C02FE9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AU" sz="3200" dirty="0">
                <a:latin typeface="Times New Roman" panose="02020603050405020304" pitchFamily="18" charset="0"/>
                <a:cs typeface="Times New Roman" panose="02020603050405020304" pitchFamily="18" charset="0"/>
              </a:rPr>
              <a:t>Proposed Solution </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C12E8523-9278-0BB3-8BD2-A00F6DF37F2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8E03928E-63DA-CE57-1CC3-E17C4267C0E9}"/>
              </a:ext>
            </a:extLst>
          </p:cNvPr>
          <p:cNvSpPr txBox="1"/>
          <p:nvPr/>
        </p:nvSpPr>
        <p:spPr>
          <a:xfrm>
            <a:off x="164008" y="1109742"/>
            <a:ext cx="8838720" cy="4838571"/>
          </a:xfrm>
          <a:prstGeom prst="rect">
            <a:avLst/>
          </a:prstGeom>
          <a:noFill/>
          <a:ln w="9360">
            <a:noFill/>
          </a:ln>
        </p:spPr>
        <p:txBody>
          <a:bodyPr>
            <a:noAutofit/>
          </a:bodyPr>
          <a:lstStyle/>
          <a:p>
            <a:pPr marL="139700" lvl="0" algn="just">
              <a:buClr>
                <a:srgbClr val="000000"/>
              </a:buClr>
              <a:buSzPts val="1400"/>
            </a:pPr>
            <a:r>
              <a:rPr lang="en-AU" sz="2000" dirty="0">
                <a:latin typeface="Times New Roman" panose="02020603050405020304" pitchFamily="18" charset="0"/>
                <a:cs typeface="Times New Roman" panose="02020603050405020304" pitchFamily="18" charset="0"/>
              </a:rPr>
              <a:t>The proposed solution is to implement a centralized Product Data Governance system using Semarchy xDM to manage and maintain accurate product information across the enterprise.</a:t>
            </a:r>
          </a:p>
          <a:p>
            <a:pPr marL="139700" lvl="0" algn="just">
              <a:buClr>
                <a:srgbClr val="000000"/>
              </a:buClr>
              <a:buSzPts val="1400"/>
            </a:pPr>
            <a:endParaRPr lang="en-AU" sz="2000" dirty="0">
              <a:latin typeface="Times New Roman" panose="02020603050405020304" pitchFamily="18" charset="0"/>
              <a:ea typeface="Calibri" panose="020F0502020204030204" pitchFamily="34" charset="0"/>
              <a:cs typeface="Times New Roman" panose="02020603050405020304" pitchFamily="18" charset="0"/>
            </a:endParaRPr>
          </a:p>
          <a:p>
            <a:pPr marL="482600" lvl="0" indent="-342900" algn="just">
              <a:buClr>
                <a:srgbClr val="000000"/>
              </a:buClr>
              <a:buSzPts val="1400"/>
              <a:buFont typeface="Courier New" panose="02070309020205020404" pitchFamily="49" charset="0"/>
              <a:buChar char="o"/>
            </a:pPr>
            <a:r>
              <a:rPr lang="en-AU" sz="2000" dirty="0">
                <a:latin typeface="Times New Roman" panose="02020603050405020304" pitchFamily="18" charset="0"/>
                <a:cs typeface="Times New Roman" panose="02020603050405020304" pitchFamily="18" charset="0"/>
              </a:rPr>
              <a:t>Build a centralized product data governance system using Semarchy xDM.</a:t>
            </a:r>
          </a:p>
          <a:p>
            <a:pPr marL="139700" lvl="0" algn="just">
              <a:buClr>
                <a:srgbClr val="000000"/>
              </a:buClr>
              <a:buSzPts val="1400"/>
            </a:pPr>
            <a:endParaRPr lang="en-AU" sz="2000" dirty="0">
              <a:latin typeface="Times New Roman" panose="02020603050405020304" pitchFamily="18" charset="0"/>
              <a:cs typeface="Times New Roman" panose="02020603050405020304" pitchFamily="18" charset="0"/>
            </a:endParaRPr>
          </a:p>
          <a:p>
            <a:pPr marL="482600" lvl="0" indent="-342900" algn="just">
              <a:buClr>
                <a:srgbClr val="000000"/>
              </a:buClr>
              <a:buSzPts val="1400"/>
              <a:buFont typeface="Courier New" panose="02070309020205020404" pitchFamily="49" charset="0"/>
              <a:buChar char="o"/>
            </a:pPr>
            <a:r>
              <a:rPr lang="en-AU" sz="2000" dirty="0">
                <a:latin typeface="Times New Roman" panose="02020603050405020304" pitchFamily="18" charset="0"/>
                <a:cs typeface="Times New Roman" panose="02020603050405020304" pitchFamily="18" charset="0"/>
              </a:rPr>
              <a:t>Standardize and clean product data to ensure consistency across all systems.</a:t>
            </a:r>
          </a:p>
          <a:p>
            <a:pPr marL="139700" lvl="0" algn="just">
              <a:buClr>
                <a:srgbClr val="000000"/>
              </a:buClr>
              <a:buSzPts val="1400"/>
            </a:pPr>
            <a:endParaRPr lang="en-AU" sz="2000" dirty="0">
              <a:latin typeface="Times New Roman" panose="02020603050405020304" pitchFamily="18" charset="0"/>
              <a:cs typeface="Times New Roman" panose="02020603050405020304" pitchFamily="18" charset="0"/>
            </a:endParaRPr>
          </a:p>
          <a:p>
            <a:pPr marL="482600" lvl="0" indent="-342900" algn="just">
              <a:buClr>
                <a:srgbClr val="000000"/>
              </a:buClr>
              <a:buSzPts val="1400"/>
              <a:buFont typeface="Courier New" panose="02070309020205020404" pitchFamily="49" charset="0"/>
              <a:buChar char="o"/>
            </a:pPr>
            <a:r>
              <a:rPr lang="en-AU" sz="2000" dirty="0">
                <a:latin typeface="Times New Roman" panose="02020603050405020304" pitchFamily="18" charset="0"/>
                <a:cs typeface="Times New Roman" panose="02020603050405020304" pitchFamily="18" charset="0"/>
              </a:rPr>
              <a:t>Implement duplicate detection and creation of a single golden record. </a:t>
            </a:r>
          </a:p>
          <a:p>
            <a:pPr marL="139700" lvl="0" algn="just">
              <a:buClr>
                <a:srgbClr val="000000"/>
              </a:buClr>
              <a:buSzPts val="1400"/>
            </a:pPr>
            <a:endParaRPr lang="en-AU" sz="2000" dirty="0">
              <a:latin typeface="Times New Roman" panose="02020603050405020304" pitchFamily="18" charset="0"/>
              <a:cs typeface="Times New Roman" panose="02020603050405020304" pitchFamily="18" charset="0"/>
            </a:endParaRPr>
          </a:p>
          <a:p>
            <a:pPr marL="482600" lvl="0" indent="-342900" algn="just">
              <a:buClr>
                <a:srgbClr val="000000"/>
              </a:buClr>
              <a:buSzPts val="1400"/>
              <a:buFont typeface="Courier New" panose="02070309020205020404" pitchFamily="49" charset="0"/>
              <a:buChar char="o"/>
            </a:pPr>
            <a:r>
              <a:rPr lang="en-AU" sz="2000" dirty="0">
                <a:latin typeface="Times New Roman" panose="02020603050405020304" pitchFamily="18" charset="0"/>
                <a:cs typeface="Times New Roman" panose="02020603050405020304" pitchFamily="18" charset="0"/>
              </a:rPr>
              <a:t>Use governance workflows for approval, ownership, and data control. </a:t>
            </a:r>
          </a:p>
          <a:p>
            <a:pPr marL="139700" lvl="0" algn="just">
              <a:buClr>
                <a:srgbClr val="000000"/>
              </a:buClr>
              <a:buSzPts val="1400"/>
            </a:pPr>
            <a:endParaRPr lang="en-AU" sz="2000" dirty="0">
              <a:latin typeface="Times New Roman" panose="02020603050405020304" pitchFamily="18" charset="0"/>
              <a:cs typeface="Times New Roman" panose="02020603050405020304" pitchFamily="18" charset="0"/>
            </a:endParaRPr>
          </a:p>
          <a:p>
            <a:pPr marL="482600" lvl="0" indent="-342900" algn="just">
              <a:buClr>
                <a:srgbClr val="000000"/>
              </a:buClr>
              <a:buSzPts val="1400"/>
              <a:buFont typeface="Courier New" panose="02070309020205020404" pitchFamily="49" charset="0"/>
              <a:buChar char="o"/>
            </a:pPr>
            <a:r>
              <a:rPr lang="en-AU" sz="2000" dirty="0">
                <a:latin typeface="Times New Roman" panose="02020603050405020304" pitchFamily="18" charset="0"/>
                <a:cs typeface="Times New Roman" panose="02020603050405020304" pitchFamily="18" charset="0"/>
              </a:rPr>
              <a:t>Enable integration with ERP and other enterprise systems through APIs.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048879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49000-6A01-17BB-B668-10856A77BDB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6EAEBC2-0F27-A0C9-5655-5EC75C253960}"/>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AU" sz="3200" dirty="0">
                <a:latin typeface="Times New Roman" panose="02020603050405020304" pitchFamily="18" charset="0"/>
                <a:cs typeface="Times New Roman" panose="02020603050405020304" pitchFamily="18" charset="0"/>
              </a:rPr>
              <a:t>Execution Of Project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0A1420D-C398-C3FB-9638-56DADCDDC0A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0EB45F31-F58B-54B3-321C-5A24DAB56024}"/>
              </a:ext>
            </a:extLst>
          </p:cNvPr>
          <p:cNvSpPr txBox="1"/>
          <p:nvPr/>
        </p:nvSpPr>
        <p:spPr>
          <a:xfrm>
            <a:off x="164008" y="1109742"/>
            <a:ext cx="8838720" cy="4838571"/>
          </a:xfrm>
          <a:prstGeom prst="rect">
            <a:avLst/>
          </a:prstGeom>
          <a:noFill/>
          <a:ln w="9360">
            <a:noFill/>
          </a:ln>
        </p:spPr>
        <p:txBody>
          <a:bodyPr>
            <a:noAutofit/>
          </a:bodyPr>
          <a:lstStyle/>
          <a:p>
            <a:pPr marL="457200" indent="-457200" algn="just">
              <a:lnSpc>
                <a:spcPct val="100000"/>
              </a:lnSpc>
              <a:spcBef>
                <a:spcPts val="400"/>
              </a:spcBef>
              <a:buFont typeface="+mj-lt"/>
              <a:buAutoNum type="arabicPeriod"/>
            </a:pPr>
            <a:r>
              <a:rPr lang="en-AU" sz="2000" b="1" dirty="0">
                <a:latin typeface="Times New Roman" panose="02020603050405020304" pitchFamily="18" charset="0"/>
                <a:cs typeface="Times New Roman" panose="02020603050405020304" pitchFamily="18" charset="0"/>
              </a:rPr>
              <a:t>Semarchy xDM (Intelligent Data Hub)</a:t>
            </a:r>
            <a:r>
              <a:rPr lang="en-AU" sz="2000" dirty="0">
                <a:latin typeface="Times New Roman" panose="02020603050405020304" pitchFamily="18" charset="0"/>
                <a:cs typeface="Times New Roman" panose="02020603050405020304" pitchFamily="18" charset="0"/>
              </a:rPr>
              <a:t> – For data </a:t>
            </a:r>
            <a:r>
              <a:rPr lang="en-AU" sz="2000" dirty="0" err="1">
                <a:latin typeface="Times New Roman" panose="02020603050405020304" pitchFamily="18" charset="0"/>
                <a:cs typeface="Times New Roman" panose="02020603050405020304" pitchFamily="18" charset="0"/>
              </a:rPr>
              <a:t>modeling</a:t>
            </a:r>
            <a:r>
              <a:rPr lang="en-AU" sz="2000" dirty="0">
                <a:latin typeface="Times New Roman" panose="02020603050405020304" pitchFamily="18" charset="0"/>
                <a:cs typeface="Times New Roman" panose="02020603050405020304" pitchFamily="18" charset="0"/>
              </a:rPr>
              <a:t>, mastering, and creating golden records. </a:t>
            </a:r>
          </a:p>
          <a:p>
            <a:pPr marL="457200" indent="-457200" algn="just">
              <a:lnSpc>
                <a:spcPct val="100000"/>
              </a:lnSpc>
              <a:spcBef>
                <a:spcPts val="400"/>
              </a:spcBef>
              <a:buFont typeface="+mj-lt"/>
              <a:buAutoNum type="arabicPeriod"/>
            </a:pPr>
            <a:endParaRPr lang="en-AU" sz="2000" dirty="0">
              <a:latin typeface="Times New Roman" panose="02020603050405020304" pitchFamily="18" charset="0"/>
              <a:cs typeface="Times New Roman" panose="02020603050405020304" pitchFamily="18" charset="0"/>
            </a:endParaRPr>
          </a:p>
          <a:p>
            <a:pPr marL="457200" indent="-457200" algn="just">
              <a:lnSpc>
                <a:spcPct val="100000"/>
              </a:lnSpc>
              <a:spcBef>
                <a:spcPts val="400"/>
              </a:spcBef>
              <a:buFont typeface="+mj-lt"/>
              <a:buAutoNum type="arabicPeriod"/>
            </a:pPr>
            <a:r>
              <a:rPr lang="en-AU" sz="2000" b="1" dirty="0">
                <a:latin typeface="Times New Roman" panose="02020603050405020304" pitchFamily="18" charset="0"/>
                <a:cs typeface="Times New Roman" panose="02020603050405020304" pitchFamily="18" charset="0"/>
              </a:rPr>
              <a:t>Source Systems (Flat Files / Databases / APIs)</a:t>
            </a:r>
            <a:r>
              <a:rPr lang="en-AU" sz="2000" dirty="0">
                <a:latin typeface="Times New Roman" panose="02020603050405020304" pitchFamily="18" charset="0"/>
                <a:cs typeface="Times New Roman" panose="02020603050405020304" pitchFamily="18" charset="0"/>
              </a:rPr>
              <a:t> – For importing raw data. </a:t>
            </a:r>
          </a:p>
          <a:p>
            <a:pPr marL="457200" indent="-457200" algn="just">
              <a:lnSpc>
                <a:spcPct val="100000"/>
              </a:lnSpc>
              <a:spcBef>
                <a:spcPts val="400"/>
              </a:spcBef>
              <a:buFont typeface="+mj-lt"/>
              <a:buAutoNum type="arabicPeriod"/>
            </a:pPr>
            <a:endParaRPr lang="en-AU" sz="2000" dirty="0">
              <a:latin typeface="Times New Roman" panose="02020603050405020304" pitchFamily="18" charset="0"/>
              <a:cs typeface="Times New Roman" panose="02020603050405020304" pitchFamily="18" charset="0"/>
            </a:endParaRPr>
          </a:p>
          <a:p>
            <a:pPr marL="457200" indent="-457200" algn="just">
              <a:lnSpc>
                <a:spcPct val="100000"/>
              </a:lnSpc>
              <a:spcBef>
                <a:spcPts val="400"/>
              </a:spcBef>
              <a:buFont typeface="+mj-lt"/>
              <a:buAutoNum type="arabicPeriod"/>
            </a:pPr>
            <a:r>
              <a:rPr lang="en-AU" sz="2000" b="1" dirty="0">
                <a:latin typeface="Times New Roman" panose="02020603050405020304" pitchFamily="18" charset="0"/>
                <a:cs typeface="Times New Roman" panose="02020603050405020304" pitchFamily="18" charset="0"/>
              </a:rPr>
              <a:t>SQL Database (e.g. PostgreSQL)</a:t>
            </a:r>
            <a:r>
              <a:rPr lang="en-AU" sz="2000" dirty="0">
                <a:latin typeface="Times New Roman" panose="02020603050405020304" pitchFamily="18" charset="0"/>
                <a:cs typeface="Times New Roman" panose="02020603050405020304" pitchFamily="18" charset="0"/>
              </a:rPr>
              <a:t> – For storing and managing source and mastered data. </a:t>
            </a:r>
          </a:p>
          <a:p>
            <a:pPr marL="457200" indent="-457200" algn="just">
              <a:lnSpc>
                <a:spcPct val="100000"/>
              </a:lnSpc>
              <a:spcBef>
                <a:spcPts val="400"/>
              </a:spcBef>
              <a:buFont typeface="+mj-lt"/>
              <a:buAutoNum type="arabicPeriod"/>
            </a:pPr>
            <a:endParaRPr lang="en-AU" sz="2000" dirty="0">
              <a:latin typeface="Times New Roman" panose="02020603050405020304" pitchFamily="18" charset="0"/>
              <a:cs typeface="Times New Roman" panose="02020603050405020304" pitchFamily="18" charset="0"/>
            </a:endParaRPr>
          </a:p>
          <a:p>
            <a:pPr marL="457200" indent="-457200" algn="just">
              <a:lnSpc>
                <a:spcPct val="100000"/>
              </a:lnSpc>
              <a:spcBef>
                <a:spcPts val="400"/>
              </a:spcBef>
              <a:buFont typeface="+mj-lt"/>
              <a:buAutoNum type="arabicPeriod"/>
            </a:pPr>
            <a:r>
              <a:rPr lang="en-AU" sz="2000" b="1" dirty="0">
                <a:latin typeface="Times New Roman" panose="02020603050405020304" pitchFamily="18" charset="0"/>
                <a:cs typeface="Times New Roman" panose="02020603050405020304" pitchFamily="18" charset="0"/>
              </a:rPr>
              <a:t>Excel / CSV Files</a:t>
            </a:r>
            <a:r>
              <a:rPr lang="en-AU" sz="2000" dirty="0">
                <a:latin typeface="Times New Roman" panose="02020603050405020304" pitchFamily="18" charset="0"/>
                <a:cs typeface="Times New Roman" panose="02020603050405020304" pitchFamily="18" charset="0"/>
              </a:rPr>
              <a:t> – For initial data preparation and testing inputs </a:t>
            </a:r>
          </a:p>
          <a:p>
            <a:pPr marL="457200" indent="-457200" algn="just">
              <a:lnSpc>
                <a:spcPct val="100000"/>
              </a:lnSpc>
              <a:spcBef>
                <a:spcPts val="400"/>
              </a:spcBef>
              <a:buFont typeface="+mj-lt"/>
              <a:buAutoNum type="arabicPeriod"/>
            </a:pPr>
            <a:endParaRPr lang="en-AU" sz="2000" dirty="0">
              <a:latin typeface="Times New Roman" panose="02020603050405020304" pitchFamily="18" charset="0"/>
              <a:cs typeface="Times New Roman" panose="02020603050405020304" pitchFamily="18" charset="0"/>
            </a:endParaRPr>
          </a:p>
          <a:p>
            <a:pPr marL="457200" indent="-457200" algn="just">
              <a:lnSpc>
                <a:spcPct val="100000"/>
              </a:lnSpc>
              <a:spcBef>
                <a:spcPts val="400"/>
              </a:spcBef>
              <a:buFont typeface="+mj-lt"/>
              <a:buAutoNum type="arabicPeriod"/>
            </a:pPr>
            <a:r>
              <a:rPr lang="en-AU" sz="2000" b="1" dirty="0">
                <a:latin typeface="Times New Roman" panose="02020603050405020304" pitchFamily="18" charset="0"/>
                <a:cs typeface="Times New Roman" panose="02020603050405020304" pitchFamily="18" charset="0"/>
              </a:rPr>
              <a:t>Web Browser (Semarchy Web UI)</a:t>
            </a:r>
            <a:r>
              <a:rPr lang="en-AU" sz="2000" dirty="0">
                <a:latin typeface="Times New Roman" panose="02020603050405020304" pitchFamily="18" charset="0"/>
                <a:cs typeface="Times New Roman" panose="02020603050405020304" pitchFamily="18" charset="0"/>
              </a:rPr>
              <a:t> – For configuration, matching rules, and validation. </a:t>
            </a:r>
          </a:p>
          <a:p>
            <a:pPr marL="457200" indent="-457200" algn="just">
              <a:lnSpc>
                <a:spcPct val="100000"/>
              </a:lnSpc>
              <a:spcBef>
                <a:spcPts val="400"/>
              </a:spcBef>
              <a:buFont typeface="+mj-lt"/>
              <a:buAutoNum type="arabicPeriod"/>
            </a:pPr>
            <a:endParaRPr lang="en-AU" sz="2000" dirty="0">
              <a:latin typeface="Times New Roman" panose="02020603050405020304" pitchFamily="18" charset="0"/>
              <a:cs typeface="Times New Roman" panose="02020603050405020304" pitchFamily="18" charset="0"/>
            </a:endParaRPr>
          </a:p>
          <a:p>
            <a:pPr marL="457200" indent="-457200" algn="just">
              <a:lnSpc>
                <a:spcPct val="100000"/>
              </a:lnSpc>
              <a:spcBef>
                <a:spcPts val="400"/>
              </a:spcBef>
              <a:buFont typeface="+mj-lt"/>
              <a:buAutoNum type="arabicPeriod"/>
            </a:pPr>
            <a:r>
              <a:rPr lang="en-AU" sz="2000" b="1" dirty="0">
                <a:latin typeface="Times New Roman" panose="02020603050405020304" pitchFamily="18" charset="0"/>
                <a:cs typeface="Times New Roman" panose="02020603050405020304" pitchFamily="18" charset="0"/>
              </a:rPr>
              <a:t>Data Quality Rules Engine (inside Semarchy)</a:t>
            </a:r>
            <a:r>
              <a:rPr lang="en-AU" sz="2000" dirty="0">
                <a:latin typeface="Times New Roman" panose="02020603050405020304" pitchFamily="18" charset="0"/>
                <a:cs typeface="Times New Roman" panose="02020603050405020304" pitchFamily="18" charset="0"/>
              </a:rPr>
              <a:t> – For validation and standardization of data.</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411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EA03B-954B-0BFB-28F7-E2725481B00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9E97CD1-E1FC-DA1B-C830-C423434EC869}"/>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AU" sz="3200" dirty="0">
                <a:latin typeface="Times New Roman" panose="02020603050405020304" pitchFamily="18" charset="0"/>
                <a:cs typeface="Times New Roman" panose="02020603050405020304" pitchFamily="18" charset="0"/>
              </a:rPr>
              <a:t>Key Learnings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0E6842AF-6FFD-CCA6-C911-850EA8BB04D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EC0525E7-318F-5BE8-217E-A12C090F84F3}"/>
              </a:ext>
            </a:extLst>
          </p:cNvPr>
          <p:cNvSpPr txBox="1"/>
          <p:nvPr/>
        </p:nvSpPr>
        <p:spPr>
          <a:xfrm>
            <a:off x="164008" y="1109742"/>
            <a:ext cx="8838720" cy="4838571"/>
          </a:xfrm>
          <a:prstGeom prst="rect">
            <a:avLst/>
          </a:prstGeom>
          <a:noFill/>
          <a:ln w="9360">
            <a:noFill/>
          </a:ln>
        </p:spPr>
        <p:txBody>
          <a:bodyPr>
            <a:noAutofit/>
          </a:bodyPr>
          <a:lstStyle/>
          <a:p>
            <a:pPr algn="just"/>
            <a:r>
              <a:rPr lang="en-AU" sz="2000" b="1" dirty="0">
                <a:latin typeface="Times New Roman" panose="02020603050405020304" pitchFamily="18" charset="0"/>
                <a:cs typeface="Times New Roman" panose="02020603050405020304" pitchFamily="18" charset="0"/>
              </a:rPr>
              <a:t>1. Master Data Management (MDM) Concepts</a:t>
            </a:r>
          </a:p>
          <a:p>
            <a:pPr algn="just"/>
            <a:r>
              <a:rPr lang="en-AU" sz="2000" dirty="0">
                <a:latin typeface="Times New Roman" panose="02020603050405020304" pitchFamily="18" charset="0"/>
                <a:cs typeface="Times New Roman" panose="02020603050405020304" pitchFamily="18" charset="0"/>
              </a:rPr>
              <a:t>Understood the fundamentals of Master Data Management, including how organizations maintain a single, consistent version of critical business data across systems.</a:t>
            </a:r>
          </a:p>
          <a:p>
            <a:pPr algn="just"/>
            <a:endParaRPr lang="en-AU" sz="2000" dirty="0">
              <a:latin typeface="Times New Roman" panose="02020603050405020304" pitchFamily="18" charset="0"/>
              <a:cs typeface="Times New Roman" panose="02020603050405020304" pitchFamily="18" charset="0"/>
            </a:endParaRPr>
          </a:p>
          <a:p>
            <a:pPr algn="just"/>
            <a:r>
              <a:rPr lang="en-AU" sz="2000" b="1" dirty="0">
                <a:latin typeface="Times New Roman" panose="02020603050405020304" pitchFamily="18" charset="0"/>
                <a:cs typeface="Times New Roman" panose="02020603050405020304" pitchFamily="18" charset="0"/>
              </a:rPr>
              <a:t>2. Semarchy xDM Platform Usage</a:t>
            </a:r>
          </a:p>
          <a:p>
            <a:pPr algn="just"/>
            <a:r>
              <a:rPr lang="en-AU" sz="2000" dirty="0">
                <a:latin typeface="Times New Roman" panose="02020603050405020304" pitchFamily="18" charset="0"/>
                <a:cs typeface="Times New Roman" panose="02020603050405020304" pitchFamily="18" charset="0"/>
              </a:rPr>
              <a:t>Gained hands-on experience with Semarchy xDM for building data models, configuring entities, and managing data mastering processes through its web-based interface.</a:t>
            </a:r>
          </a:p>
          <a:p>
            <a:pPr algn="just"/>
            <a:endParaRPr lang="en-AU" sz="2000" dirty="0">
              <a:latin typeface="Times New Roman" panose="02020603050405020304" pitchFamily="18" charset="0"/>
              <a:cs typeface="Times New Roman" panose="02020603050405020304" pitchFamily="18" charset="0"/>
            </a:endParaRPr>
          </a:p>
          <a:p>
            <a:pPr algn="just"/>
            <a:r>
              <a:rPr lang="en-AU" sz="2000" b="1" dirty="0">
                <a:latin typeface="Times New Roman" panose="02020603050405020304" pitchFamily="18" charset="0"/>
                <a:cs typeface="Times New Roman" panose="02020603050405020304" pitchFamily="18" charset="0"/>
              </a:rPr>
              <a:t>3. Data Modeling and Entity Design</a:t>
            </a:r>
          </a:p>
          <a:p>
            <a:pPr algn="just"/>
            <a:r>
              <a:rPr lang="en-AU" sz="2000" dirty="0">
                <a:latin typeface="Times New Roman" panose="02020603050405020304" pitchFamily="18" charset="0"/>
                <a:cs typeface="Times New Roman" panose="02020603050405020304" pitchFamily="18" charset="0"/>
              </a:rPr>
              <a:t>Learned how to design logical data models by defining entities, attributes, relationships, and hierarchies to represent real-world business data effectively.</a:t>
            </a:r>
          </a:p>
          <a:p>
            <a:pPr algn="just"/>
            <a:endParaRPr lang="en-AU" sz="2000" dirty="0">
              <a:latin typeface="Times New Roman" panose="02020603050405020304" pitchFamily="18" charset="0"/>
              <a:cs typeface="Times New Roman" panose="02020603050405020304" pitchFamily="18" charset="0"/>
            </a:endParaRPr>
          </a:p>
          <a:p>
            <a:pPr algn="just"/>
            <a:r>
              <a:rPr lang="en-AU" sz="2000" b="1" dirty="0">
                <a:latin typeface="Times New Roman" panose="02020603050405020304" pitchFamily="18" charset="0"/>
                <a:cs typeface="Times New Roman" panose="02020603050405020304" pitchFamily="18" charset="0"/>
              </a:rPr>
              <a:t>4. Data Matching and Deduplication</a:t>
            </a:r>
          </a:p>
          <a:p>
            <a:pPr algn="just"/>
            <a:r>
              <a:rPr lang="en-AU" sz="2000" dirty="0">
                <a:latin typeface="Times New Roman" panose="02020603050405020304" pitchFamily="18" charset="0"/>
                <a:cs typeface="Times New Roman" panose="02020603050405020304" pitchFamily="18" charset="0"/>
              </a:rPr>
              <a:t>Understood how matching rules work to identify duplicate records and how survivorship rules help in selecting the most accurate and reliable data.</a:t>
            </a:r>
          </a:p>
        </p:txBody>
      </p:sp>
    </p:spTree>
    <p:extLst>
      <p:ext uri="{BB962C8B-B14F-4D97-AF65-F5344CB8AC3E}">
        <p14:creationId xmlns:p14="http://schemas.microsoft.com/office/powerpoint/2010/main" val="2932475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0E65C-763B-50D9-95CB-4496A1B1E68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CE8B09E-D086-6DAD-F8A9-35A05C2B56E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AU" sz="3200" dirty="0">
                <a:latin typeface="Times New Roman" panose="02020603050405020304" pitchFamily="18" charset="0"/>
                <a:cs typeface="Times New Roman" panose="02020603050405020304" pitchFamily="18" charset="0"/>
              </a:rPr>
              <a:t>Some More Key Learnings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A1C21AD8-76C8-3941-E99F-2CCC84DB776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B237CB29-C2BA-C70B-212E-AEB4FAB9E1E7}"/>
              </a:ext>
            </a:extLst>
          </p:cNvPr>
          <p:cNvSpPr txBox="1"/>
          <p:nvPr/>
        </p:nvSpPr>
        <p:spPr>
          <a:xfrm>
            <a:off x="164008" y="1109742"/>
            <a:ext cx="8838720" cy="4838571"/>
          </a:xfrm>
          <a:prstGeom prst="rect">
            <a:avLst/>
          </a:prstGeom>
          <a:noFill/>
          <a:ln w="9360">
            <a:noFill/>
          </a:ln>
        </p:spPr>
        <p:txBody>
          <a:bodyPr>
            <a:noAutofit/>
          </a:bodyPr>
          <a:lstStyle/>
          <a:p>
            <a:pPr algn="just"/>
            <a:r>
              <a:rPr lang="en-AU" sz="2000" b="1" dirty="0">
                <a:latin typeface="Times New Roman" panose="02020603050405020304" pitchFamily="18" charset="0"/>
                <a:cs typeface="Times New Roman" panose="02020603050405020304" pitchFamily="18" charset="0"/>
              </a:rPr>
              <a:t>5. Data Quality Management</a:t>
            </a:r>
          </a:p>
          <a:p>
            <a:pPr algn="just"/>
            <a:r>
              <a:rPr lang="en-AU" sz="2000" dirty="0">
                <a:latin typeface="Times New Roman" panose="02020603050405020304" pitchFamily="18" charset="0"/>
                <a:cs typeface="Times New Roman" panose="02020603050405020304" pitchFamily="18" charset="0"/>
              </a:rPr>
              <a:t>Learned how to apply validation and standardization rules to ensure data accuracy, completeness, and consistency before and after loading into the system.</a:t>
            </a:r>
          </a:p>
          <a:p>
            <a:pPr algn="just"/>
            <a:endParaRPr lang="en-AU" sz="2000" dirty="0">
              <a:latin typeface="Times New Roman" panose="02020603050405020304" pitchFamily="18" charset="0"/>
              <a:cs typeface="Times New Roman" panose="02020603050405020304" pitchFamily="18" charset="0"/>
            </a:endParaRPr>
          </a:p>
          <a:p>
            <a:pPr algn="just"/>
            <a:r>
              <a:rPr lang="en-AU" sz="2000" b="1" dirty="0">
                <a:latin typeface="Times New Roman" panose="02020603050405020304" pitchFamily="18" charset="0"/>
                <a:cs typeface="Times New Roman" panose="02020603050405020304" pitchFamily="18" charset="0"/>
              </a:rPr>
              <a:t>6. Data Integration Process</a:t>
            </a:r>
          </a:p>
          <a:p>
            <a:pPr algn="just"/>
            <a:r>
              <a:rPr lang="en-AU" sz="2000" dirty="0">
                <a:latin typeface="Times New Roman" panose="02020603050405020304" pitchFamily="18" charset="0"/>
                <a:cs typeface="Times New Roman" panose="02020603050405020304" pitchFamily="18" charset="0"/>
              </a:rPr>
              <a:t>Gained knowledge of integrating multiple source systems (files, databases, etc.) into Semarchy xDM for centralized data management and consolidation.</a:t>
            </a:r>
          </a:p>
          <a:p>
            <a:pPr algn="just"/>
            <a:endParaRPr lang="en-AU" sz="2000" dirty="0">
              <a:latin typeface="Times New Roman" panose="02020603050405020304" pitchFamily="18" charset="0"/>
              <a:cs typeface="Times New Roman" panose="02020603050405020304" pitchFamily="18" charset="0"/>
            </a:endParaRPr>
          </a:p>
          <a:p>
            <a:pPr algn="just"/>
            <a:r>
              <a:rPr lang="en-AU" sz="2000" b="1" dirty="0">
                <a:latin typeface="Times New Roman" panose="02020603050405020304" pitchFamily="18" charset="0"/>
                <a:cs typeface="Times New Roman" panose="02020603050405020304" pitchFamily="18" charset="0"/>
              </a:rPr>
              <a:t>7. Golden Record Creation</a:t>
            </a:r>
          </a:p>
          <a:p>
            <a:pPr algn="just"/>
            <a:r>
              <a:rPr lang="en-AU" sz="2000" dirty="0">
                <a:latin typeface="Times New Roman" panose="02020603050405020304" pitchFamily="18" charset="0"/>
                <a:cs typeface="Times New Roman" panose="02020603050405020304" pitchFamily="18" charset="0"/>
              </a:rPr>
              <a:t>Understood the concept of creating a single “golden record” by merging multiple source records into one trusted version used across the organization.</a:t>
            </a:r>
          </a:p>
        </p:txBody>
      </p:sp>
    </p:spTree>
    <p:extLst>
      <p:ext uri="{BB962C8B-B14F-4D97-AF65-F5344CB8AC3E}">
        <p14:creationId xmlns:p14="http://schemas.microsoft.com/office/powerpoint/2010/main" val="2817213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4C2CF-CED1-B5FB-7289-5A9527A7F6C1}"/>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9142FC45-EAC5-F91B-966B-A6BF8479D05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0" strike="noStrike" spc="-1" dirty="0">
                <a:solidFill>
                  <a:srgbClr val="000000"/>
                </a:solidFill>
                <a:latin typeface="Times New Roman" panose="02020603050405020304" pitchFamily="18" charset="0"/>
                <a:cs typeface="Times New Roman" panose="02020603050405020304" pitchFamily="18" charset="0"/>
              </a:rPr>
              <a:t>Advantages</a:t>
            </a:r>
          </a:p>
        </p:txBody>
      </p:sp>
      <p:sp>
        <p:nvSpPr>
          <p:cNvPr id="110" name="TextShape 3">
            <a:extLst>
              <a:ext uri="{FF2B5EF4-FFF2-40B4-BE49-F238E27FC236}">
                <a16:creationId xmlns:a16="http://schemas.microsoft.com/office/drawing/2014/main" id="{C4D505C5-5ADC-89BB-721F-362D3775D19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D06385C8-BB6C-F87C-494C-35A64C2F5525}"/>
              </a:ext>
            </a:extLst>
          </p:cNvPr>
          <p:cNvSpPr txBox="1"/>
          <p:nvPr/>
        </p:nvSpPr>
        <p:spPr>
          <a:xfrm>
            <a:off x="152640" y="1414542"/>
            <a:ext cx="8838720" cy="4838571"/>
          </a:xfrm>
          <a:prstGeom prst="rect">
            <a:avLst/>
          </a:prstGeom>
          <a:noFill/>
          <a:ln w="9360">
            <a:noFill/>
          </a:ln>
        </p:spPr>
        <p:txBody>
          <a:bodyPr>
            <a:noAutofit/>
          </a:bodyPr>
          <a:lstStyle/>
          <a:p>
            <a:pPr marL="342900" indent="-342900" algn="just">
              <a:buFont typeface="Wingdings" panose="05000000000000000000" pitchFamily="2" charset="2"/>
              <a:buChar char="Ø"/>
            </a:pPr>
            <a:r>
              <a:rPr lang="en-AU" sz="2000" b="1" dirty="0">
                <a:latin typeface="Times New Roman" panose="02020603050405020304" pitchFamily="18" charset="0"/>
                <a:cs typeface="Times New Roman" panose="02020603050405020304" pitchFamily="18" charset="0"/>
              </a:rPr>
              <a:t>Improved Data Accuracy : </a:t>
            </a:r>
            <a:r>
              <a:rPr lang="en-AU" sz="2000" dirty="0">
                <a:latin typeface="Times New Roman" panose="02020603050405020304" pitchFamily="18" charset="0"/>
                <a:cs typeface="Times New Roman" panose="02020603050405020304" pitchFamily="18" charset="0"/>
              </a:rPr>
              <a:t>Ensures clean, validated, and standardized data by removing duplicates and inconsistencies.</a:t>
            </a:r>
          </a:p>
          <a:p>
            <a:pPr marL="342900" indent="-342900" algn="just">
              <a:buFont typeface="Wingdings" panose="05000000000000000000" pitchFamily="2" charset="2"/>
              <a:buChar char="Ø"/>
            </a:pPr>
            <a:endParaRPr lang="en-AU"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AU" sz="2000" b="1" dirty="0">
                <a:latin typeface="Times New Roman" panose="02020603050405020304" pitchFamily="18" charset="0"/>
                <a:cs typeface="Times New Roman" panose="02020603050405020304" pitchFamily="18" charset="0"/>
              </a:rPr>
              <a:t>Single Source of Truth : </a:t>
            </a:r>
            <a:r>
              <a:rPr lang="en-AU" sz="2000" dirty="0">
                <a:latin typeface="Times New Roman" panose="02020603050405020304" pitchFamily="18" charset="0"/>
                <a:cs typeface="Times New Roman" panose="02020603050405020304" pitchFamily="18" charset="0"/>
              </a:rPr>
              <a:t>Creates a unified golden record, providing one trusted version of data across the organization.</a:t>
            </a:r>
          </a:p>
          <a:p>
            <a:pPr marL="342900" indent="-342900" algn="just">
              <a:buFont typeface="Wingdings" panose="05000000000000000000" pitchFamily="2" charset="2"/>
              <a:buChar char="Ø"/>
            </a:pPr>
            <a:endParaRPr lang="en-AU"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AU" sz="2000" b="1" dirty="0">
                <a:latin typeface="Times New Roman" panose="02020603050405020304" pitchFamily="18" charset="0"/>
                <a:cs typeface="Times New Roman" panose="02020603050405020304" pitchFamily="18" charset="0"/>
              </a:rPr>
              <a:t>Better Decision Making : </a:t>
            </a:r>
            <a:r>
              <a:rPr lang="en-AU" sz="2000" dirty="0">
                <a:latin typeface="Times New Roman" panose="02020603050405020304" pitchFamily="18" charset="0"/>
                <a:cs typeface="Times New Roman" panose="02020603050405020304" pitchFamily="18" charset="0"/>
              </a:rPr>
              <a:t>High-quality and consistent data helps stakeholders make more reliable and informed business decisions.</a:t>
            </a:r>
          </a:p>
          <a:p>
            <a:pPr algn="just"/>
            <a:endParaRPr lang="en-AU"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AU" sz="2000" b="1" dirty="0">
                <a:latin typeface="Times New Roman" panose="02020603050405020304" pitchFamily="18" charset="0"/>
                <a:cs typeface="Times New Roman" panose="02020603050405020304" pitchFamily="18" charset="0"/>
              </a:rPr>
              <a:t>Efficient Data Management : </a:t>
            </a:r>
            <a:r>
              <a:rPr lang="en-AU" sz="2000" dirty="0">
                <a:latin typeface="Times New Roman" panose="02020603050405020304" pitchFamily="18" charset="0"/>
                <a:cs typeface="Times New Roman" panose="02020603050405020304" pitchFamily="18" charset="0"/>
              </a:rPr>
              <a:t>Centralized data handling reduces manual effort and simplifies data integration from multiple sources.</a:t>
            </a:r>
          </a:p>
          <a:p>
            <a:pPr marL="342900" indent="-342900" algn="just">
              <a:buFont typeface="Wingdings" panose="05000000000000000000" pitchFamily="2" charset="2"/>
              <a:buChar char="Ø"/>
            </a:pPr>
            <a:endParaRPr lang="en-AU"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AU" sz="2000" b="1" dirty="0">
                <a:latin typeface="Times New Roman" panose="02020603050405020304" pitchFamily="18" charset="0"/>
                <a:cs typeface="Times New Roman" panose="02020603050405020304" pitchFamily="18" charset="0"/>
              </a:rPr>
              <a:t>Enhanced Data Quality Control : </a:t>
            </a:r>
            <a:r>
              <a:rPr lang="en-AU" sz="2000" dirty="0">
                <a:latin typeface="Times New Roman" panose="02020603050405020304" pitchFamily="18" charset="0"/>
                <a:cs typeface="Times New Roman" panose="02020603050405020304" pitchFamily="18" charset="0"/>
              </a:rPr>
              <a:t>Built-in matching, validation, and survivorship rules ensure continuous improvement in data quality.</a:t>
            </a:r>
          </a:p>
        </p:txBody>
      </p:sp>
    </p:spTree>
    <p:extLst>
      <p:ext uri="{BB962C8B-B14F-4D97-AF65-F5344CB8AC3E}">
        <p14:creationId xmlns:p14="http://schemas.microsoft.com/office/powerpoint/2010/main" val="3402465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A3D1-83A2-4EF8-0791-B9056E0E95C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3964174-0B88-ABD7-5A98-9D59B4475EB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0" strike="noStrike" spc="-1" dirty="0">
                <a:solidFill>
                  <a:srgbClr val="000000"/>
                </a:solidFill>
                <a:latin typeface="Times New Roman" panose="02020603050405020304" pitchFamily="18" charset="0"/>
                <a:cs typeface="Times New Roman" panose="02020603050405020304" pitchFamily="18" charset="0"/>
              </a:rPr>
              <a:t>S</a:t>
            </a:r>
            <a:r>
              <a:rPr lang="en-AU" sz="3200" b="0" strike="noStrike" spc="-1" dirty="0">
                <a:solidFill>
                  <a:srgbClr val="000000"/>
                </a:solidFill>
                <a:latin typeface="Times New Roman" panose="02020603050405020304" pitchFamily="18" charset="0"/>
                <a:cs typeface="Times New Roman" panose="02020603050405020304" pitchFamily="18" charset="0"/>
              </a:rPr>
              <a:t>napshots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A759AF9-E1A2-BC02-1C51-B66FCFADD1C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a:extLst>
              <a:ext uri="{FF2B5EF4-FFF2-40B4-BE49-F238E27FC236}">
                <a16:creationId xmlns:a16="http://schemas.microsoft.com/office/drawing/2014/main" id="{93FDE984-B7C1-250C-529A-BB797893EEB8}"/>
              </a:ext>
            </a:extLst>
          </p:cNvPr>
          <p:cNvSpPr txBox="1"/>
          <p:nvPr/>
        </p:nvSpPr>
        <p:spPr>
          <a:xfrm>
            <a:off x="173840" y="1109742"/>
            <a:ext cx="8838720" cy="5325436"/>
          </a:xfrm>
          <a:prstGeom prst="rect">
            <a:avLst/>
          </a:prstGeom>
          <a:noFill/>
          <a:ln w="9360">
            <a:noFill/>
          </a:ln>
        </p:spPr>
        <p:txBody>
          <a:bodyPr>
            <a:noAutofit/>
          </a:bodyPr>
          <a:lstStyle/>
          <a:p>
            <a:endParaRPr lang="en-AU" sz="2000" dirty="0">
              <a:latin typeface="Times New Roman" panose="02020603050405020304" pitchFamily="18" charset="0"/>
              <a:cs typeface="Times New Roman" panose="02020603050405020304" pitchFamily="18" charset="0"/>
            </a:endParaRPr>
          </a:p>
        </p:txBody>
      </p:sp>
      <p:pic>
        <p:nvPicPr>
          <p:cNvPr id="6" name="Picture 5" descr="The image appears to be a complex interface layout, possibly for a software application, showcasing various components such as a builder tool, a matching engine, and a user interface for managing entities and their attributes.&#10;&#10;AI-generated content may be incorrect.">
            <a:extLst>
              <a:ext uri="{FF2B5EF4-FFF2-40B4-BE49-F238E27FC236}">
                <a16:creationId xmlns:a16="http://schemas.microsoft.com/office/drawing/2014/main" id="{AD300834-8585-17D5-9E5C-F114F7285CFB}"/>
              </a:ext>
            </a:extLst>
          </p:cNvPr>
          <p:cNvPicPr>
            <a:picLocks noChangeAspect="1"/>
          </p:cNvPicPr>
          <p:nvPr/>
        </p:nvPicPr>
        <p:blipFill>
          <a:blip r:embed="rId2"/>
          <a:stretch>
            <a:fillRect/>
          </a:stretch>
        </p:blipFill>
        <p:spPr>
          <a:xfrm>
            <a:off x="2952115" y="3656552"/>
            <a:ext cx="5946354" cy="2769947"/>
          </a:xfrm>
          <a:prstGeom prst="rect">
            <a:avLst/>
          </a:prstGeom>
        </p:spPr>
      </p:pic>
      <p:pic>
        <p:nvPicPr>
          <p:cNvPr id="8" name="Picture 7" descr="The image displays a complex diagram or data structure, possibly a database schema or an ERD (Entity Relationship Diagram), illustrating relationships between entities such as products, suppliers, customers, and their attributes.&#10;&#10;AI-generated content may be incorrect.">
            <a:extLst>
              <a:ext uri="{FF2B5EF4-FFF2-40B4-BE49-F238E27FC236}">
                <a16:creationId xmlns:a16="http://schemas.microsoft.com/office/drawing/2014/main" id="{49DBF2C2-4A83-75F6-8C4C-5A6298A962BF}"/>
              </a:ext>
            </a:extLst>
          </p:cNvPr>
          <p:cNvPicPr>
            <a:picLocks noChangeAspect="1"/>
          </p:cNvPicPr>
          <p:nvPr/>
        </p:nvPicPr>
        <p:blipFill>
          <a:blip r:embed="rId3"/>
          <a:stretch>
            <a:fillRect/>
          </a:stretch>
        </p:blipFill>
        <p:spPr>
          <a:xfrm>
            <a:off x="173840" y="909686"/>
            <a:ext cx="4634133" cy="2769947"/>
          </a:xfrm>
          <a:prstGeom prst="rect">
            <a:avLst/>
          </a:prstGeom>
        </p:spPr>
      </p:pic>
    </p:spTree>
    <p:extLst>
      <p:ext uri="{BB962C8B-B14F-4D97-AF65-F5344CB8AC3E}">
        <p14:creationId xmlns:p14="http://schemas.microsoft.com/office/powerpoint/2010/main" val="97629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1BD00-3440-5934-68E0-3ED47A86E78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185BAC6-FF2B-A149-A5C1-22B92B3CAD18}"/>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AU" sz="3200" dirty="0">
                <a:latin typeface="Times New Roman" panose="02020603050405020304" pitchFamily="18" charset="0"/>
                <a:cs typeface="Times New Roman" panose="02020603050405020304" pitchFamily="18" charset="0"/>
              </a:rPr>
              <a:t>Snapshots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B65D4B4-10D5-4066-DE10-E2FD851E0AC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a:extLst>
              <a:ext uri="{FF2B5EF4-FFF2-40B4-BE49-F238E27FC236}">
                <a16:creationId xmlns:a16="http://schemas.microsoft.com/office/drawing/2014/main" id="{0C9D6C97-86D2-6F05-2F6F-665B65AB7930}"/>
              </a:ext>
            </a:extLst>
          </p:cNvPr>
          <p:cNvSpPr txBox="1"/>
          <p:nvPr/>
        </p:nvSpPr>
        <p:spPr>
          <a:xfrm>
            <a:off x="164008" y="1109742"/>
            <a:ext cx="8838720" cy="5379548"/>
          </a:xfrm>
          <a:prstGeom prst="rect">
            <a:avLst/>
          </a:prstGeom>
          <a:noFill/>
          <a:ln w="9360">
            <a:noFill/>
          </a:ln>
        </p:spPr>
        <p:txBody>
          <a:bodyPr>
            <a:noAutofit/>
          </a:bodyPr>
          <a:lstStyle/>
          <a:p>
            <a:endParaRPr lang="en-AU" sz="2000" dirty="0">
              <a:latin typeface="Times New Roman" panose="02020603050405020304" pitchFamily="18" charset="0"/>
              <a:cs typeface="Times New Roman" panose="02020603050405020304" pitchFamily="18" charset="0"/>
            </a:endParaRPr>
          </a:p>
        </p:txBody>
      </p:sp>
      <p:pic>
        <p:nvPicPr>
          <p:cNvPr id="3" name="Picture 2" descr="Golden with Errors.&#10;&#10;AI-generated content may be incorrect.">
            <a:extLst>
              <a:ext uri="{FF2B5EF4-FFF2-40B4-BE49-F238E27FC236}">
                <a16:creationId xmlns:a16="http://schemas.microsoft.com/office/drawing/2014/main" id="{0242FB9F-AC82-5D18-7A21-43DA2B963FB8}"/>
              </a:ext>
            </a:extLst>
          </p:cNvPr>
          <p:cNvPicPr>
            <a:picLocks noChangeAspect="1"/>
          </p:cNvPicPr>
          <p:nvPr/>
        </p:nvPicPr>
        <p:blipFill>
          <a:blip r:embed="rId2"/>
          <a:stretch>
            <a:fillRect/>
          </a:stretch>
        </p:blipFill>
        <p:spPr>
          <a:xfrm>
            <a:off x="141272" y="1022328"/>
            <a:ext cx="5074763" cy="2406672"/>
          </a:xfrm>
          <a:prstGeom prst="rect">
            <a:avLst/>
          </a:prstGeom>
        </p:spPr>
      </p:pic>
      <p:pic>
        <p:nvPicPr>
          <p:cNvPr id="6" name="Picture 5" descr="The image displays a detailed table listing various Apple smartphone models, their categories, statuses, hazard classifications, and associated information.&#10;&#10;AI-generated content may be incorrect.">
            <a:extLst>
              <a:ext uri="{FF2B5EF4-FFF2-40B4-BE49-F238E27FC236}">
                <a16:creationId xmlns:a16="http://schemas.microsoft.com/office/drawing/2014/main" id="{9F342AB3-A712-9A64-0BF8-3A7BAB808704}"/>
              </a:ext>
            </a:extLst>
          </p:cNvPr>
          <p:cNvPicPr>
            <a:picLocks noChangeAspect="1"/>
          </p:cNvPicPr>
          <p:nvPr/>
        </p:nvPicPr>
        <p:blipFill>
          <a:blip r:embed="rId3"/>
          <a:stretch>
            <a:fillRect/>
          </a:stretch>
        </p:blipFill>
        <p:spPr>
          <a:xfrm>
            <a:off x="2603582" y="3500544"/>
            <a:ext cx="6371516" cy="2917201"/>
          </a:xfrm>
          <a:prstGeom prst="rect">
            <a:avLst/>
          </a:prstGeom>
        </p:spPr>
      </p:pic>
    </p:spTree>
    <p:extLst>
      <p:ext uri="{BB962C8B-B14F-4D97-AF65-F5344CB8AC3E}">
        <p14:creationId xmlns:p14="http://schemas.microsoft.com/office/powerpoint/2010/main" val="1276076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42578-504C-7F21-D6C1-AF04074BC67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73F2773-17C9-614A-1A89-1F03529E64E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AU" sz="3200" dirty="0">
                <a:latin typeface="Times New Roman" panose="02020603050405020304" pitchFamily="18" charset="0"/>
                <a:cs typeface="Times New Roman" panose="02020603050405020304" pitchFamily="18" charset="0"/>
              </a:rPr>
              <a:t>SQL Script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D3E79D8D-5A99-E8B3-D6B3-87EB8883FC9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a:extLst>
              <a:ext uri="{FF2B5EF4-FFF2-40B4-BE49-F238E27FC236}">
                <a16:creationId xmlns:a16="http://schemas.microsoft.com/office/drawing/2014/main" id="{58A6991E-D071-5A31-D28B-7B2E295A8F89}"/>
              </a:ext>
            </a:extLst>
          </p:cNvPr>
          <p:cNvSpPr txBox="1"/>
          <p:nvPr/>
        </p:nvSpPr>
        <p:spPr>
          <a:xfrm>
            <a:off x="164008" y="1109742"/>
            <a:ext cx="8838720" cy="5359884"/>
          </a:xfrm>
          <a:prstGeom prst="rect">
            <a:avLst/>
          </a:prstGeom>
          <a:noFill/>
          <a:ln w="9360">
            <a:noFill/>
          </a:ln>
        </p:spPr>
        <p:txBody>
          <a:bodyPr>
            <a:noAutofit/>
          </a:bodyPr>
          <a:lstStyle/>
          <a:p>
            <a:endParaRPr lang="en-AU" sz="2000" dirty="0">
              <a:latin typeface="Times New Roman" panose="02020603050405020304" pitchFamily="18" charset="0"/>
              <a:cs typeface="Times New Roman" panose="02020603050405020304" pitchFamily="18" charset="0"/>
            </a:endParaRPr>
          </a:p>
        </p:txBody>
      </p:sp>
      <p:pic>
        <p:nvPicPr>
          <p:cNvPr id="3" name="Picture 2" descr="The image shows a segment of a database schema, containing various SQL scripts and queries for data import, cleansing, and transformation.&#10;&#10;AI-generated content may be incorrect.">
            <a:extLst>
              <a:ext uri="{FF2B5EF4-FFF2-40B4-BE49-F238E27FC236}">
                <a16:creationId xmlns:a16="http://schemas.microsoft.com/office/drawing/2014/main" id="{467F8F4A-6AC5-8E07-0DCE-9D1E2CFB2A3F}"/>
              </a:ext>
            </a:extLst>
          </p:cNvPr>
          <p:cNvPicPr>
            <a:picLocks noChangeAspect="1"/>
          </p:cNvPicPr>
          <p:nvPr/>
        </p:nvPicPr>
        <p:blipFill>
          <a:blip r:embed="rId2"/>
          <a:stretch>
            <a:fillRect/>
          </a:stretch>
        </p:blipFill>
        <p:spPr>
          <a:xfrm>
            <a:off x="314632" y="1109742"/>
            <a:ext cx="7607733" cy="5094414"/>
          </a:xfrm>
          <a:prstGeom prst="rect">
            <a:avLst/>
          </a:prstGeom>
        </p:spPr>
      </p:pic>
    </p:spTree>
    <p:extLst>
      <p:ext uri="{BB962C8B-B14F-4D97-AF65-F5344CB8AC3E}">
        <p14:creationId xmlns:p14="http://schemas.microsoft.com/office/powerpoint/2010/main" val="2380856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6838-FAC2-511E-F6FE-52578B63FC6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2A290F8-AE84-906C-6D6E-9CF04109FB51}"/>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AU" sz="3200" dirty="0">
                <a:latin typeface="Times New Roman" panose="02020603050405020304" pitchFamily="18" charset="0"/>
                <a:cs typeface="Times New Roman" panose="02020603050405020304" pitchFamily="18" charset="0"/>
              </a:rPr>
              <a:t>Conclusion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2FC96397-96B2-FA92-2AF3-E827C39216A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
        <p:nvSpPr>
          <p:cNvPr id="5" name="TextShape 2">
            <a:extLst>
              <a:ext uri="{FF2B5EF4-FFF2-40B4-BE49-F238E27FC236}">
                <a16:creationId xmlns:a16="http://schemas.microsoft.com/office/drawing/2014/main" id="{4E1D063C-F08E-63B6-687A-02F42DC39342}"/>
              </a:ext>
            </a:extLst>
          </p:cNvPr>
          <p:cNvSpPr txBox="1"/>
          <p:nvPr/>
        </p:nvSpPr>
        <p:spPr>
          <a:xfrm>
            <a:off x="73982" y="1296555"/>
            <a:ext cx="8838720" cy="4838571"/>
          </a:xfrm>
          <a:prstGeom prst="rect">
            <a:avLst/>
          </a:prstGeom>
          <a:noFill/>
          <a:ln w="9360">
            <a:noFill/>
          </a:ln>
        </p:spPr>
        <p:txBody>
          <a:bodyPr>
            <a:noAutofit/>
          </a:bodyPr>
          <a:lstStyle/>
          <a:p>
            <a:pPr marL="342900" indent="-342900" algn="just">
              <a:buFont typeface="Wingdings" panose="05000000000000000000" pitchFamily="2" charset="2"/>
              <a:buChar char="ü"/>
            </a:pPr>
            <a:r>
              <a:rPr lang="en-AU" sz="2000" b="1" dirty="0">
                <a:latin typeface="Times New Roman" panose="02020603050405020304" pitchFamily="18" charset="0"/>
                <a:cs typeface="Times New Roman" panose="02020603050405020304" pitchFamily="18" charset="0"/>
              </a:rPr>
              <a:t>Successful Implementation of MDM - </a:t>
            </a:r>
            <a:r>
              <a:rPr lang="en-AU" sz="2000" dirty="0">
                <a:latin typeface="Times New Roman" panose="02020603050405020304" pitchFamily="18" charset="0"/>
                <a:cs typeface="Times New Roman" panose="02020603050405020304" pitchFamily="18" charset="0"/>
              </a:rPr>
              <a:t>The project successfully demonstrated the implementation of Master Data Management using Semarchy xDM.</a:t>
            </a:r>
          </a:p>
          <a:p>
            <a:pPr marL="342900" indent="-342900" algn="just">
              <a:buFont typeface="Wingdings" panose="05000000000000000000" pitchFamily="2" charset="2"/>
              <a:buChar char="ü"/>
            </a:pPr>
            <a:endParaRPr lang="en-AU"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AU" sz="2000" b="1" dirty="0">
                <a:latin typeface="Times New Roman" panose="02020603050405020304" pitchFamily="18" charset="0"/>
                <a:cs typeface="Times New Roman" panose="02020603050405020304" pitchFamily="18" charset="0"/>
              </a:rPr>
              <a:t>Improved Data Consistency - </a:t>
            </a:r>
            <a:r>
              <a:rPr lang="en-AU" sz="2000" dirty="0">
                <a:latin typeface="Times New Roman" panose="02020603050405020304" pitchFamily="18" charset="0"/>
                <a:cs typeface="Times New Roman" panose="02020603050405020304" pitchFamily="18" charset="0"/>
              </a:rPr>
              <a:t>It ensured consistent, accurate, and reliable data across multiple source systems.</a:t>
            </a:r>
          </a:p>
          <a:p>
            <a:pPr marL="342900" indent="-342900" algn="just">
              <a:buFont typeface="Wingdings" panose="05000000000000000000" pitchFamily="2" charset="2"/>
              <a:buChar char="ü"/>
            </a:pPr>
            <a:endParaRPr lang="en-AU"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AU" sz="2000" b="1" dirty="0">
                <a:latin typeface="Times New Roman" panose="02020603050405020304" pitchFamily="18" charset="0"/>
                <a:cs typeface="Times New Roman" panose="02020603050405020304" pitchFamily="18" charset="0"/>
              </a:rPr>
              <a:t>Effective Data Consolidation - </a:t>
            </a:r>
            <a:r>
              <a:rPr lang="en-AU" sz="2000" dirty="0">
                <a:latin typeface="Times New Roman" panose="02020603050405020304" pitchFamily="18" charset="0"/>
                <a:cs typeface="Times New Roman" panose="02020603050405020304" pitchFamily="18" charset="0"/>
              </a:rPr>
              <a:t>Multiple source records were efficiently merged to create a single, trusted golden record.</a:t>
            </a:r>
          </a:p>
          <a:p>
            <a:pPr marL="342900" indent="-342900" algn="just">
              <a:buFont typeface="Wingdings" panose="05000000000000000000" pitchFamily="2" charset="2"/>
              <a:buChar char="ü"/>
            </a:pPr>
            <a:endParaRPr lang="en-AU"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AU" sz="2000" b="1" dirty="0">
                <a:latin typeface="Times New Roman" panose="02020603050405020304" pitchFamily="18" charset="0"/>
                <a:cs typeface="Times New Roman" panose="02020603050405020304" pitchFamily="18" charset="0"/>
              </a:rPr>
              <a:t>Enhanced Data Quality - </a:t>
            </a:r>
            <a:r>
              <a:rPr lang="en-AU" sz="2000" dirty="0">
                <a:latin typeface="Times New Roman" panose="02020603050405020304" pitchFamily="18" charset="0"/>
                <a:cs typeface="Times New Roman" panose="02020603050405020304" pitchFamily="18" charset="0"/>
              </a:rPr>
              <a:t>Data validation, matching, and survivorship rules significantly improved overall data quality.</a:t>
            </a:r>
          </a:p>
          <a:p>
            <a:pPr marL="342900" indent="-342900" algn="just">
              <a:buFont typeface="Wingdings" panose="05000000000000000000" pitchFamily="2" charset="2"/>
              <a:buChar char="ü"/>
            </a:pPr>
            <a:endParaRPr lang="en-AU"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AU" sz="2000" b="1" dirty="0">
                <a:latin typeface="Times New Roman" panose="02020603050405020304" pitchFamily="18" charset="0"/>
                <a:cs typeface="Times New Roman" panose="02020603050405020304" pitchFamily="18" charset="0"/>
              </a:rPr>
              <a:t>Strong Foundation for Future Use - </a:t>
            </a:r>
            <a:r>
              <a:rPr lang="en-AU" sz="2000" dirty="0">
                <a:latin typeface="Times New Roman" panose="02020603050405020304" pitchFamily="18" charset="0"/>
                <a:cs typeface="Times New Roman" panose="02020603050405020304" pitchFamily="18" charset="0"/>
              </a:rPr>
              <a:t>The project provides a scalable framework for better data governance and enterprise data management.</a:t>
            </a:r>
          </a:p>
        </p:txBody>
      </p:sp>
    </p:spTree>
    <p:extLst>
      <p:ext uri="{BB962C8B-B14F-4D97-AF65-F5344CB8AC3E}">
        <p14:creationId xmlns:p14="http://schemas.microsoft.com/office/powerpoint/2010/main" val="4137897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34949</TotalTime>
  <Words>929</Words>
  <Application>Microsoft Office PowerPoint</Application>
  <PresentationFormat>On-screen Show (4:3)</PresentationFormat>
  <Paragraphs>128</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Aditya Sharma</cp:lastModifiedBy>
  <cp:revision>2306</cp:revision>
  <dcterms:created xsi:type="dcterms:W3CDTF">2010-04-09T07:36:15Z</dcterms:created>
  <dcterms:modified xsi:type="dcterms:W3CDTF">2026-05-18T07:46:06Z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